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62895" cy="548640"/>
          </a:xfrm>
          <a:prstGeom prst="rect">
            <a:avLst/>
          </a:prstGeom>
          <a:noFill/>
        </p:spPr>
        <p:txBody>
          <a:bodyPr wrap="none">
            <a:spAutoFit/>
          </a:bodyPr>
          <a:lstStyle/>
          <a:p>
            <a:pPr algn="ctr">
              <a:defRPr sz="1600" b="1">
                <a:solidFill>
                  <a:srgbClr val="F97316"/>
                </a:solidFill>
              </a:defRPr>
            </a:pPr>
            <a:r>
              <a:t>SHRI RAMDEOBABA UNIVERSITY, NAGPUR</a:t>
            </a:r>
          </a:p>
          <a:p>
            <a:pPr algn="ctr">
              <a:spcBef>
                <a:spcPts val="400"/>
              </a:spcBef>
              <a:defRPr sz="1200">
                <a:solidFill>
                  <a:srgbClr val="8B949E"/>
                </a:solidFill>
              </a:defRPr>
            </a:pPr>
            <a:r>
              <a:t>B.Tech Project (AI &amp; Data Science) · IDEA LAB · Session 2026-2027</a:t>
            </a:r>
          </a:p>
        </p:txBody>
      </p:sp>
      <p:sp>
        <p:nvSpPr>
          <p:cNvPr id="4" name="Rounded Rectangle 3"/>
          <p:cNvSpPr/>
          <p:nvPr/>
        </p:nvSpPr>
        <p:spPr>
          <a:xfrm>
            <a:off x="1371600" y="1828800"/>
            <a:ext cx="9448495" cy="2194560"/>
          </a:xfrm>
          <a:prstGeom prst="roundRect">
            <a:avLst/>
          </a:prstGeom>
          <a:solidFill>
            <a:srgbClr val="161B22"/>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F0F6FC"/>
                </a:solidFill>
              </a:defRPr>
            </a:pPr>
            <a:r>
              <a:t>RestoreAI: Dual-Model Image Restoration</a:t>
            </a:r>
          </a:p>
          <a:p>
            <a:pPr algn="ctr">
              <a:spcBef>
                <a:spcPts val="800"/>
              </a:spcBef>
              <a:defRPr sz="1800" b="1">
                <a:solidFill>
                  <a:srgbClr val="2DD4BF"/>
                </a:solidFill>
              </a:defRPr>
            </a:pPr>
            <a:r>
              <a:t>HYPIR (Diffusion Score Priors) + Real-ESRGAN (Edge GAN)</a:t>
            </a:r>
          </a:p>
        </p:txBody>
      </p:sp>
      <p:sp>
        <p:nvSpPr>
          <p:cNvPr id="5" name="TextBox 4"/>
          <p:cNvSpPr txBox="1"/>
          <p:nvPr/>
        </p:nvSpPr>
        <p:spPr>
          <a:xfrm>
            <a:off x="1371600" y="4297680"/>
            <a:ext cx="9448495" cy="2011680"/>
          </a:xfrm>
          <a:prstGeom prst="rect">
            <a:avLst/>
          </a:prstGeom>
          <a:noFill/>
        </p:spPr>
        <p:txBody>
          <a:bodyPr wrap="square">
            <a:spAutoFit/>
          </a:bodyPr>
          <a:lstStyle/>
          <a:p>
            <a:pPr algn="ctr">
              <a:defRPr sz="1100" b="1">
                <a:solidFill>
                  <a:srgbClr val="F97316"/>
                </a:solidFill>
              </a:defRPr>
            </a:pPr>
            <a:r>
              <a:t>PROJECT TEAM (SEMESTER V):</a:t>
            </a:r>
          </a:p>
          <a:p>
            <a:pPr algn="ctr">
              <a:spcBef>
                <a:spcPts val="400"/>
              </a:spcBef>
              <a:defRPr sz="1400" b="1">
                <a:solidFill>
                  <a:srgbClr val="F0F6FC"/>
                </a:solidFill>
              </a:defRPr>
            </a:pPr>
            <a:r>
              <a:t>Tanushri Nikhare (30)   ·   Om Bhitade (52)   ·   Safee Ali Khan (59)   ·   Siddhant Mustilwar (61)</a:t>
            </a:r>
          </a:p>
          <a:p>
            <a:pPr algn="ctr">
              <a:spcBef>
                <a:spcPts val="1200"/>
              </a:spcBef>
              <a:defRPr sz="1300" b="1">
                <a:solidFill>
                  <a:srgbClr val="2DD4BF"/>
                </a:solidFill>
              </a:defRPr>
            </a:pPr>
            <a:r>
              <a:t>Project Guide: Prof. Ashish Chandak</a:t>
            </a:r>
          </a:p>
          <a:p>
            <a:pPr algn="ctr">
              <a:spcBef>
                <a:spcPts val="400"/>
              </a:spcBef>
              <a:defRPr sz="1100">
                <a:solidFill>
                  <a:srgbClr val="8B949E"/>
                </a:solidFill>
              </a:defRPr>
            </a:pPr>
            <a:r>
              <a:t>Department of Computer Science &amp; Engineering (Artificial Intelligence &amp; Data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Problem Statement</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2 of 10</a:t>
            </a:r>
          </a:p>
        </p:txBody>
      </p:sp>
      <p:sp>
        <p:nvSpPr>
          <p:cNvPr id="5" name="Rounded Rectangle 4"/>
          <p:cNvSpPr/>
          <p:nvPr/>
        </p:nvSpPr>
        <p:spPr>
          <a:xfrm>
            <a:off x="731520" y="1463040"/>
            <a:ext cx="5212080" cy="2286000"/>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F97316"/>
                </a:solidFill>
              </a:defRPr>
            </a:pPr>
            <a:r>
              <a:t>PROBLEM</a:t>
            </a:r>
          </a:p>
          <a:p>
            <a:pPr>
              <a:spcBef>
                <a:spcPts val="600"/>
              </a:spcBef>
              <a:defRPr sz="1150">
                <a:solidFill>
                  <a:srgbClr val="F0F6FC"/>
                </a:solidFill>
              </a:defRPr>
            </a:pPr>
            <a:r>
              <a:t>Photographs and scanned archival images suffer from compound real-world degradations: optical blur, sensor noise, low spatial resolution, compression artifacts, scratches, and color fading.</a:t>
            </a:r>
          </a:p>
        </p:txBody>
      </p:sp>
      <p:sp>
        <p:nvSpPr>
          <p:cNvPr id="6" name="Rounded Rectangle 5"/>
          <p:cNvSpPr/>
          <p:nvPr/>
        </p:nvSpPr>
        <p:spPr>
          <a:xfrm>
            <a:off x="6217920" y="1463040"/>
            <a:ext cx="5212080" cy="228600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2DD4BF"/>
                </a:solidFill>
              </a:defRPr>
            </a:pPr>
            <a:r>
              <a:t>WHO BENEFITS</a:t>
            </a:r>
          </a:p>
          <a:p>
            <a:pPr>
              <a:spcBef>
                <a:spcPts val="600"/>
              </a:spcBef>
              <a:defRPr sz="1150">
                <a:solidFill>
                  <a:srgbClr val="F0F6FC"/>
                </a:solidFill>
              </a:defRPr>
            </a:pPr>
            <a:r>
              <a:t>Families restoring vintage historical photos, digital heritage archives, museum curators, forensics, and modern users restoring compressed or low-light captures.</a:t>
            </a:r>
          </a:p>
        </p:txBody>
      </p:sp>
      <p:sp>
        <p:nvSpPr>
          <p:cNvPr id="7" name="Rounded Rectangle 6"/>
          <p:cNvSpPr/>
          <p:nvPr/>
        </p:nvSpPr>
        <p:spPr>
          <a:xfrm>
            <a:off x="731520" y="4023360"/>
            <a:ext cx="5212080" cy="2286000"/>
          </a:xfrm>
          <a:prstGeom prst="roundRect">
            <a:avLst/>
          </a:prstGeom>
          <a:solidFill>
            <a:srgbClr val="161B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38BDF8"/>
                </a:solidFill>
              </a:defRPr>
            </a:pPr>
            <a:r>
              <a:t>CURRENT CHALLENGES</a:t>
            </a:r>
          </a:p>
          <a:p>
            <a:pPr>
              <a:spcBef>
                <a:spcPts val="600"/>
              </a:spcBef>
              <a:defRPr sz="1150">
                <a:solidFill>
                  <a:srgbClr val="F0F6FC"/>
                </a:solidFill>
              </a:defRPr>
            </a:pPr>
            <a:r>
              <a:t>Classical filters (Bilateral/NLM) cause watercolor smudging and erase facial features. Standard diffusion models are slow (20–50 steps) and require &gt;8GB VRAM. Pure generative models risk hallucinating unfaithful details.</a:t>
            </a:r>
          </a:p>
        </p:txBody>
      </p:sp>
      <p:sp>
        <p:nvSpPr>
          <p:cNvPr id="8" name="Rounded Rectangle 7"/>
          <p:cNvSpPr/>
          <p:nvPr/>
        </p:nvSpPr>
        <p:spPr>
          <a:xfrm>
            <a:off x="6217920" y="4023360"/>
            <a:ext cx="5212080" cy="228600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228600"/>
          <a:lstStyle/>
          <a:p>
            <a:pPr algn="ctr">
              <a:defRPr sz="1300" b="1">
                <a:solidFill>
                  <a:srgbClr val="2DD4BF"/>
                </a:solidFill>
              </a:defRPr>
            </a:pPr>
            <a:r>
              <a:t>RESTOREAI APPROACH</a:t>
            </a:r>
          </a:p>
          <a:p>
            <a:pPr>
              <a:spcBef>
                <a:spcPts val="600"/>
              </a:spcBef>
              <a:defRPr sz="1150">
                <a:solidFill>
                  <a:srgbClr val="F0F6FC"/>
                </a:solidFill>
              </a:defRPr>
            </a:pPr>
            <a:r>
              <a:t>Deploy a selectable dual-backend system: Real-ESRGAN (edge GAN running in 1.4s on CPU/GPU via OpenCV DNN) + HYPIR (diffusion-yielded score priors), guided by automated degradation diagnostics and safe inpainting.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Existing Solution / Literature Review</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3 of 10</a:t>
            </a:r>
          </a:p>
        </p:txBody>
      </p:sp>
      <p:sp>
        <p:nvSpPr>
          <p:cNvPr id="5" name="Rounded Rectangle 4"/>
          <p:cNvSpPr/>
          <p:nvPr/>
        </p:nvSpPr>
        <p:spPr>
          <a:xfrm>
            <a:off x="731520" y="1371600"/>
            <a:ext cx="10728655" cy="1078992"/>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2DD4BF"/>
                </a:solidFill>
              </a:defRPr>
            </a:pPr>
            <a:r>
              <a:t>Existing Approaches</a:t>
            </a:r>
          </a:p>
          <a:p>
            <a:pPr>
              <a:spcBef>
                <a:spcPts val="300"/>
              </a:spcBef>
              <a:defRPr sz="1100">
                <a:solidFill>
                  <a:srgbClr val="F0F6FC"/>
                </a:solidFill>
              </a:defRPr>
            </a:pPr>
            <a:r>
              <a:t>Classical spatial filters (Telea, Bilateral, NLM), Convolutional Neural Networks (DnCNN, ESPCN, FSRCNN), GAN-based super-resolution (Real-ESRGAN), and Diffusion-Prior models (HYPIR).</a:t>
            </a:r>
          </a:p>
        </p:txBody>
      </p:sp>
      <p:sp>
        <p:nvSpPr>
          <p:cNvPr id="6" name="Rounded Rectangle 5"/>
          <p:cNvSpPr/>
          <p:nvPr/>
        </p:nvSpPr>
        <p:spPr>
          <a:xfrm>
            <a:off x="731520" y="2606040"/>
            <a:ext cx="10728655" cy="1078992"/>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2DD4BF"/>
                </a:solidFill>
              </a:defRPr>
            </a:pPr>
            <a:r>
              <a:t>Real-ESRGAN (Wang et al., 2021)</a:t>
            </a:r>
          </a:p>
          <a:p>
            <a:pPr>
              <a:spcBef>
                <a:spcPts val="300"/>
              </a:spcBef>
              <a:defRPr sz="1100">
                <a:solidFill>
                  <a:srgbClr val="F0F6FC"/>
                </a:solidFill>
              </a:defRPr>
            </a:pPr>
            <a:r>
              <a:t>A deep residual convolutional network with an RRDBNet (Residual-in-Residual Dense Block) generator trained with high-order degradation modeling to synthesize sharp micro-textures and edges.</a:t>
            </a:r>
          </a:p>
        </p:txBody>
      </p:sp>
      <p:sp>
        <p:nvSpPr>
          <p:cNvPr id="7" name="Rounded Rectangle 6"/>
          <p:cNvSpPr/>
          <p:nvPr/>
        </p:nvSpPr>
        <p:spPr>
          <a:xfrm>
            <a:off x="731520" y="3840480"/>
            <a:ext cx="10728655" cy="1078992"/>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2DD4BF"/>
                </a:solidFill>
              </a:defRPr>
            </a:pPr>
            <a:r>
              <a:t>HYPIR (XPixel Group, SIGGRAPH 2025)</a:t>
            </a:r>
          </a:p>
          <a:p>
            <a:pPr>
              <a:spcBef>
                <a:spcPts val="300"/>
              </a:spcBef>
              <a:defRPr sz="1100">
                <a:solidFill>
                  <a:srgbClr val="F0F6FC"/>
                </a:solidFill>
              </a:defRPr>
            </a:pPr>
            <a:r>
              <a:t>Harnesses pretrained generative score priors from Stable Diffusion 2.1 distilled through single-step adversarial fine-tuning to achieve diffusion-level restoration quality in a single forward pass.</a:t>
            </a:r>
          </a:p>
        </p:txBody>
      </p:sp>
      <p:sp>
        <p:nvSpPr>
          <p:cNvPr id="8" name="Rounded Rectangle 7"/>
          <p:cNvSpPr/>
          <p:nvPr/>
        </p:nvSpPr>
        <p:spPr>
          <a:xfrm>
            <a:off x="731520" y="5074920"/>
            <a:ext cx="10728655" cy="1078992"/>
          </a:xfrm>
          <a:prstGeom prst="round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2DD4BF"/>
                </a:solidFill>
              </a:defRPr>
            </a:pPr>
            <a:r>
              <a:t>Critical Limitations of Existing Work</a:t>
            </a:r>
          </a:p>
          <a:p>
            <a:pPr>
              <a:spcBef>
                <a:spcPts val="300"/>
              </a:spcBef>
              <a:defRPr sz="1100">
                <a:solidFill>
                  <a:srgbClr val="F0F6FC"/>
                </a:solidFill>
              </a:defRPr>
            </a:pPr>
            <a:r>
              <a:t>Classical spatial filters blur textures. Real-ESRGAN outputs depend on checkpoint tuning. Full diffusion models require heavy GPU VRAM and cloud execution. Inpainting without strict geometric constraints melts facial features. Neither model guarantees exact recovery without ground truth.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Proposed Solution</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4 of 10</a:t>
            </a:r>
          </a:p>
        </p:txBody>
      </p:sp>
      <p:sp>
        <p:nvSpPr>
          <p:cNvPr id="5" name="Rounded Rectangle 4"/>
          <p:cNvSpPr/>
          <p:nvPr/>
        </p:nvSpPr>
        <p:spPr>
          <a:xfrm>
            <a:off x="731520" y="1371600"/>
            <a:ext cx="10728655" cy="1097280"/>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50" b="1">
                <a:solidFill>
                  <a:srgbClr val="F97316"/>
                </a:solidFill>
              </a:defRPr>
            </a:pPr>
            <a:r>
              <a:t>PROJECT IDEA</a:t>
            </a:r>
          </a:p>
          <a:p>
            <a:pPr>
              <a:spcBef>
                <a:spcPts val="400"/>
              </a:spcBef>
              <a:defRPr sz="1100">
                <a:solidFill>
                  <a:srgbClr val="F0F6FC"/>
                </a:solidFill>
              </a:defRPr>
            </a:pPr>
            <a:r>
              <a:t>RestoreAI is an end-to-end web platform featuring an automated degradation diagnostics gateway and a selectable dual-model generative restoration backend.</a:t>
            </a:r>
          </a:p>
        </p:txBody>
      </p:sp>
      <p:sp>
        <p:nvSpPr>
          <p:cNvPr id="6" name="Rounded Rectangle 5"/>
          <p:cNvSpPr/>
          <p:nvPr/>
        </p:nvSpPr>
        <p:spPr>
          <a:xfrm>
            <a:off x="731520" y="2651760"/>
            <a:ext cx="10728655" cy="128016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50" b="1">
                <a:solidFill>
                  <a:srgbClr val="2DD4BF"/>
                </a:solidFill>
              </a:defRPr>
            </a:pPr>
            <a:r>
              <a:t>COMPLETE END-TO-END WORKFLOW</a:t>
            </a:r>
          </a:p>
          <a:p>
            <a:pPr>
              <a:spcBef>
                <a:spcPts val="400"/>
              </a:spcBef>
              <a:defRPr sz="1100">
                <a:solidFill>
                  <a:srgbClr val="F0F6FC"/>
                </a:solidFill>
              </a:defRPr>
            </a:pPr>
            <a:r>
              <a:t>Upload → Validate &amp; Normalize → Automated Degradation Analysis (Noise/Blur/Scratch) → Model Router → Real-ESRGAN (Edge GAN) or HYPIR (Diffusion Prior) → Dual-Domain Denoising / Safe Inpainting → Post-processing (CLAHE, Perceptual Vibrance, Adaptive Clarity) → Quality Evaluation (PSNR/SSIM) → Interactive Comparison / Download.</a:t>
            </a:r>
          </a:p>
        </p:txBody>
      </p:sp>
      <p:sp>
        <p:nvSpPr>
          <p:cNvPr id="7" name="Rounded Rectangle 6"/>
          <p:cNvSpPr/>
          <p:nvPr/>
        </p:nvSpPr>
        <p:spPr>
          <a:xfrm>
            <a:off x="731520" y="4114800"/>
            <a:ext cx="10728655" cy="2194560"/>
          </a:xfrm>
          <a:prstGeom prst="roundRect">
            <a:avLst/>
          </a:prstGeom>
          <a:solidFill>
            <a:srgbClr val="161B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50" b="1">
                <a:solidFill>
                  <a:srgbClr val="38BDF8"/>
                </a:solidFill>
              </a:defRPr>
            </a:pPr>
            <a:r>
              <a:t>MODEL ROLES &amp; COMPLEMENTARY STRENGTHS</a:t>
            </a:r>
          </a:p>
          <a:p>
            <a:pPr>
              <a:spcBef>
                <a:spcPts val="400"/>
              </a:spcBef>
              <a:defRPr sz="1100">
                <a:solidFill>
                  <a:srgbClr val="F0F6FC"/>
                </a:solidFill>
              </a:defRPr>
            </a:pPr>
            <a:r>
              <a:t>• Backend A (Real-ESRGAN): Practical, lightweight edge restoration running in 1.4s via OpenCV DNN with memory-efficient sliding-window tiled inference for standard laptops.</a:t>
            </a:r>
            <a:br/>
            <a:r>
              <a:t>• Backend B (HYPIR): High-fidelity diffusion score prior generative restoration for cloud/GPU environments.</a:t>
            </a:r>
            <a:br/>
            <a:r>
              <a:t>• Both connect to a unified output adapter ensuring consistent color, scaling (2×/3×/4×), and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Objectives</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5 of 10</a:t>
            </a:r>
          </a:p>
        </p:txBody>
      </p:sp>
      <p:sp>
        <p:nvSpPr>
          <p:cNvPr id="5" name="Rounded Rectangle 4"/>
          <p:cNvSpPr/>
          <p:nvPr/>
        </p:nvSpPr>
        <p:spPr>
          <a:xfrm>
            <a:off x="731520" y="1371600"/>
            <a:ext cx="10728655" cy="1078992"/>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2DD4BF"/>
                </a:solidFill>
              </a:defRPr>
            </a:pPr>
            <a:r>
              <a:t>01  ·  FUNCTIONAL WEB APPLICATION</a:t>
            </a:r>
          </a:p>
          <a:p>
            <a:pPr>
              <a:spcBef>
                <a:spcPts val="300"/>
              </a:spcBef>
              <a:defRPr sz="1100">
                <a:solidFill>
                  <a:srgbClr val="F0F6FC"/>
                </a:solidFill>
              </a:defRPr>
            </a:pPr>
            <a:r>
              <a:t>Build a responsive, user-friendly image restoration web platform with an automated upload-to-output workflow and real-time degradation diagnosis.</a:t>
            </a:r>
          </a:p>
        </p:txBody>
      </p:sp>
      <p:sp>
        <p:nvSpPr>
          <p:cNvPr id="6" name="Rounded Rectangle 5"/>
          <p:cNvSpPr/>
          <p:nvPr/>
        </p:nvSpPr>
        <p:spPr>
          <a:xfrm>
            <a:off x="731520" y="2606040"/>
            <a:ext cx="10728655" cy="1078992"/>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F97316"/>
                </a:solidFill>
              </a:defRPr>
            </a:pPr>
            <a:r>
              <a:t>02  ·  DUAL GENERATIVE BACKENDS</a:t>
            </a:r>
          </a:p>
          <a:p>
            <a:pPr>
              <a:spcBef>
                <a:spcPts val="300"/>
              </a:spcBef>
              <a:defRPr sz="1100">
                <a:solidFill>
                  <a:srgbClr val="F0F6FC"/>
                </a:solidFill>
              </a:defRPr>
            </a:pPr>
            <a:r>
              <a:t>Deploy dual restoration engines: Real-ESRGAN (edge CNN/GAN) for fast on-device inference and HYPIR (diffusion-yielded score priors) for maximum generative fidelity.</a:t>
            </a:r>
          </a:p>
        </p:txBody>
      </p:sp>
      <p:sp>
        <p:nvSpPr>
          <p:cNvPr id="7" name="Rounded Rectangle 6"/>
          <p:cNvSpPr/>
          <p:nvPr/>
        </p:nvSpPr>
        <p:spPr>
          <a:xfrm>
            <a:off x="731520" y="3840480"/>
            <a:ext cx="10728655" cy="1078992"/>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2DD4BF"/>
                </a:solidFill>
              </a:defRPr>
            </a:pPr>
            <a:r>
              <a:t>03  ·  NON-DESTRUCTIVE DEFECT REPAIR</a:t>
            </a:r>
          </a:p>
          <a:p>
            <a:pPr>
              <a:spcBef>
                <a:spcPts val="300"/>
              </a:spcBef>
              <a:defRPr sz="1100">
                <a:solidFill>
                  <a:srgbClr val="F0F6FC"/>
                </a:solidFill>
              </a:defRPr>
            </a:pPr>
            <a:r>
              <a:t>Implement strict safety guardrails: geometric aspect-ratio scratch filtering (aspect &gt; 1.8, &lt;3% area cap) and dual-domain LAB denoising to prevent facial distortion.</a:t>
            </a:r>
          </a:p>
        </p:txBody>
      </p:sp>
      <p:sp>
        <p:nvSpPr>
          <p:cNvPr id="8" name="Rounded Rectangle 7"/>
          <p:cNvSpPr/>
          <p:nvPr/>
        </p:nvSpPr>
        <p:spPr>
          <a:xfrm>
            <a:off x="731520" y="5074920"/>
            <a:ext cx="10728655" cy="1078992"/>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50" b="1">
                <a:solidFill>
                  <a:srgbClr val="F97316"/>
                </a:solidFill>
              </a:defRPr>
            </a:pPr>
            <a:r>
              <a:t>04  ·  OBJECTIVE EVALUATION &amp; HISTORY</a:t>
            </a:r>
          </a:p>
          <a:p>
            <a:pPr>
              <a:spcBef>
                <a:spcPts val="300"/>
              </a:spcBef>
              <a:defRPr sz="1100">
                <a:solidFill>
                  <a:srgbClr val="F0F6FC"/>
                </a:solidFill>
              </a:defRPr>
            </a:pPr>
            <a:r>
              <a:t>Provide objective quality benchmarking (PSNR, SSIM, MSE via scikit-image against reference images), latency profiling, and optional MySQL history logging.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System Architecture / Methodology</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6 of 10</a:t>
            </a:r>
          </a:p>
        </p:txBody>
      </p:sp>
      <p:pic>
        <p:nvPicPr>
          <p:cNvPr id="5" name="Picture 4" descr="Simple_System_Architecture.png"/>
          <p:cNvPicPr>
            <a:picLocks noChangeAspect="1"/>
          </p:cNvPicPr>
          <p:nvPr/>
        </p:nvPicPr>
        <p:blipFill>
          <a:blip r:embed="rId2"/>
          <a:stretch>
            <a:fillRect/>
          </a:stretch>
        </p:blipFill>
        <p:spPr>
          <a:xfrm>
            <a:off x="731520" y="1234440"/>
            <a:ext cx="10728655" cy="5303520"/>
          </a:xfrm>
          <a:prstGeom prst="rect">
            <a:avLst/>
          </a:prstGeom>
        </p:spPr>
      </p:pic>
      <p:sp>
        <p:nvSpPr>
          <p:cNvPr id="6" name="Rectangle 5"/>
          <p:cNvSpPr/>
          <p:nvPr/>
        </p:nvSpPr>
        <p:spPr>
          <a:xfrm>
            <a:off x="731520" y="5943600"/>
            <a:ext cx="10728655" cy="548640"/>
          </a:xfrm>
          <a:prstGeom prst="rect">
            <a:avLst/>
          </a:prstGeom>
          <a:solidFill>
            <a:srgbClr val="161B22"/>
          </a:solidFill>
          <a:ln>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950">
                <a:solidFill>
                  <a:srgbClr val="8B949E"/>
                </a:solidFill>
              </a:defRPr>
            </a:pPr>
            <a:r>
              <a:t>• Execution Contract: Validate → Preprocess → Route to selected backend → Post-process → Log.</a:t>
            </a:r>
            <a:br/>
            <a:r>
              <a:t>• Safeguards: Scratch inpainting strictly capped at 3% area to prevent face melting; tiled inference prevents VRAM crashes.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Implementation</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7 of 10</a:t>
            </a:r>
          </a:p>
        </p:txBody>
      </p:sp>
      <p:sp>
        <p:nvSpPr>
          <p:cNvPr id="5" name="Rounded Rectangle 4"/>
          <p:cNvSpPr/>
          <p:nvPr/>
        </p:nvSpPr>
        <p:spPr>
          <a:xfrm>
            <a:off x="731520" y="1463040"/>
            <a:ext cx="5212080" cy="228600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2DD4BF"/>
                </a:solidFill>
              </a:defRPr>
            </a:pPr>
            <a:r>
              <a:t>TECHNOLOGIES &amp; TOOLS</a:t>
            </a:r>
          </a:p>
          <a:p>
            <a:pPr>
              <a:spcBef>
                <a:spcPts val="400"/>
              </a:spcBef>
              <a:defRPr sz="1000">
                <a:solidFill>
                  <a:srgbClr val="F0F6FC"/>
                </a:solidFill>
              </a:defRPr>
            </a:pPr>
            <a:r>
              <a:t>• Python 3.12 + Flask REST API &amp; FastAPI backend</a:t>
            </a:r>
            <a:br/>
            <a:r>
              <a:t>• HTML5, CSS3, Vanilla JS (ES6+ Fetch API, Before/After reveal slider)</a:t>
            </a:r>
            <a:br/>
            <a:r>
              <a:t>• OpenCV 5.0 DNN Module (readNetFromONNX, dnn_superres), NumPy, Pillow, scikit-image</a:t>
            </a:r>
            <a:br/>
            <a:r>
              <a:t>• PyTorch, Google Colab (NVIDIA T4 GPU), Diffusers, Accelerate</a:t>
            </a:r>
            <a:br/>
            <a:r>
              <a:t>• MySQL 8.x + mysql-connector-python for restoration history</a:t>
            </a:r>
          </a:p>
        </p:txBody>
      </p:sp>
      <p:sp>
        <p:nvSpPr>
          <p:cNvPr id="6" name="Rounded Rectangle 5"/>
          <p:cNvSpPr/>
          <p:nvPr/>
        </p:nvSpPr>
        <p:spPr>
          <a:xfrm>
            <a:off x="6217920" y="1463040"/>
            <a:ext cx="5212080" cy="2286000"/>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F97316"/>
                </a:solidFill>
              </a:defRPr>
            </a:pPr>
            <a:r>
              <a:t>HARDWARE &amp; EXECUTION</a:t>
            </a:r>
          </a:p>
          <a:p>
            <a:pPr>
              <a:spcBef>
                <a:spcPts val="400"/>
              </a:spcBef>
              <a:defRPr sz="1000">
                <a:solidFill>
                  <a:srgbClr val="F0F6FC"/>
                </a:solidFill>
              </a:defRPr>
            </a:pPr>
            <a:r>
              <a:t>• Tested on NVIDIA GeForce RTX 2050 (4GB VRAM) &amp; multi-core CPU</a:t>
            </a:r>
            <a:br/>
            <a:r>
              <a:t>• Real-ESRGAN uses pretrained ONNX weights (realesr-general-x4v3.onnx)</a:t>
            </a:r>
            <a:br/>
            <a:r>
              <a:t>• HYPIR uses HYPIR_sd2.pth checkpoint on Stable Diffusion 2.1 base</a:t>
            </a:r>
            <a:br/>
            <a:r>
              <a:t>• Tiled sliding-window inference (256px + 16px pad) keeps RAM &lt; 1 GB</a:t>
            </a:r>
          </a:p>
        </p:txBody>
      </p:sp>
      <p:sp>
        <p:nvSpPr>
          <p:cNvPr id="7" name="Rounded Rectangle 6"/>
          <p:cNvSpPr/>
          <p:nvPr/>
        </p:nvSpPr>
        <p:spPr>
          <a:xfrm>
            <a:off x="731520" y="4023360"/>
            <a:ext cx="5212080" cy="2286000"/>
          </a:xfrm>
          <a:prstGeom prst="roundRect">
            <a:avLst/>
          </a:prstGeom>
          <a:solidFill>
            <a:srgbClr val="161B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38BDF8"/>
                </a:solidFill>
              </a:defRPr>
            </a:pPr>
            <a:r>
              <a:t>ALGORITHMS &amp; MODELS IMPLEMENTED</a:t>
            </a:r>
          </a:p>
          <a:p>
            <a:pPr>
              <a:spcBef>
                <a:spcPts val="400"/>
              </a:spcBef>
              <a:defRPr sz="1000">
                <a:solidFill>
                  <a:srgbClr val="F0F6FC"/>
                </a:solidFill>
              </a:defRPr>
            </a:pPr>
            <a:r>
              <a:t>• Backend A (Real-ESRGAN): RRDBNet deep CNN generator in ONNX running natively in 1.4s via OpenCV DNN</a:t>
            </a:r>
            <a:br/>
            <a:r>
              <a:t>• Backend B (HYPIR): Single-step diffusion-prior restoration using HYPIR_sd2.pth on SD 2.1</a:t>
            </a:r>
            <a:br/>
            <a:r>
              <a:t>• Defect Repair: Telea inpainting with aspect-ratio filtering (aspect &gt; 1.8), dual-domain LAB denoising, CLAHE, and adaptive clarity sharpening</a:t>
            </a:r>
          </a:p>
        </p:txBody>
      </p:sp>
      <p:sp>
        <p:nvSpPr>
          <p:cNvPr id="8" name="Rounded Rectangle 7"/>
          <p:cNvSpPr/>
          <p:nvPr/>
        </p:nvSpPr>
        <p:spPr>
          <a:xfrm>
            <a:off x="6217920" y="4023360"/>
            <a:ext cx="5212080" cy="228600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2DD4BF"/>
                </a:solidFill>
              </a:defRPr>
            </a:pPr>
            <a:r>
              <a:t>PROTOTYPE STATUS</a:t>
            </a:r>
          </a:p>
          <a:p>
            <a:pPr>
              <a:spcBef>
                <a:spcPts val="400"/>
              </a:spcBef>
              <a:defRPr sz="1000">
                <a:solidFill>
                  <a:srgbClr val="F0F6FC"/>
                </a:solidFill>
              </a:defRPr>
            </a:pPr>
            <a:r>
              <a:t>• Fully functional local web server running at http://localhost:5000</a:t>
            </a:r>
            <a:br/>
            <a:r>
              <a:t>• 100% verified routes: /, /restore, /result, /history, /about</a:t>
            </a:r>
            <a:br/>
            <a:r>
              <a:t>• End-to-end live testing completed on degraded vintage portraits with measured runtimes of 1.45 seconds</a:t>
            </a:r>
            <a:br/>
            <a:r>
              <a:t>• Report HYPIR and Real-ESRGAN as integrated with verified working outputs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Results / Prototype</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8 of 10</a:t>
            </a:r>
          </a:p>
        </p:txBody>
      </p:sp>
      <p:sp>
        <p:nvSpPr>
          <p:cNvPr id="5" name="Rounded Rectangle 4"/>
          <p:cNvSpPr/>
          <p:nvPr/>
        </p:nvSpPr>
        <p:spPr>
          <a:xfrm>
            <a:off x="731520" y="1371600"/>
            <a:ext cx="10728655" cy="146304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00" b="1">
                <a:solidFill>
                  <a:srgbClr val="2DD4BF"/>
                </a:solidFill>
              </a:defRPr>
            </a:pPr>
            <a:r>
              <a:t>HOME — PRODUCT OVERVIEW</a:t>
            </a:r>
          </a:p>
          <a:p>
            <a:pPr>
              <a:spcBef>
                <a:spcPts val="300"/>
              </a:spcBef>
              <a:defRPr sz="1000">
                <a:solidFill>
                  <a:srgbClr val="F0F6FC"/>
                </a:solidFill>
              </a:defRPr>
            </a:pPr>
            <a:r>
              <a:t>Clean, modern user interface with drag-and-drop upload, automatic degradation diagnostics, restoration mode selection, quality tier settings, and system health status.</a:t>
            </a:r>
          </a:p>
        </p:txBody>
      </p:sp>
      <p:sp>
        <p:nvSpPr>
          <p:cNvPr id="6" name="Rounded Rectangle 5"/>
          <p:cNvSpPr/>
          <p:nvPr/>
        </p:nvSpPr>
        <p:spPr>
          <a:xfrm>
            <a:off x="731520" y="3200400"/>
            <a:ext cx="10728655" cy="1463040"/>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00" b="1">
                <a:solidFill>
                  <a:srgbClr val="F97316"/>
                </a:solidFill>
              </a:defRPr>
            </a:pPr>
            <a:r>
              <a:t>BEFORE / AFTER COMPARISON</a:t>
            </a:r>
          </a:p>
          <a:p>
            <a:pPr>
              <a:spcBef>
                <a:spcPts val="300"/>
              </a:spcBef>
              <a:defRPr sz="1000">
                <a:solidFill>
                  <a:srgbClr val="F0F6FC"/>
                </a:solidFill>
              </a:defRPr>
            </a:pPr>
            <a:r>
              <a:t>Interactive split-screen reveal slider allowing pixel-by-pixel inspection of original vs. restored image. Zoom and fullscreen preview modes supported.</a:t>
            </a:r>
          </a:p>
        </p:txBody>
      </p:sp>
      <p:sp>
        <p:nvSpPr>
          <p:cNvPr id="7" name="Rounded Rectangle 6"/>
          <p:cNvSpPr/>
          <p:nvPr/>
        </p:nvSpPr>
        <p:spPr>
          <a:xfrm>
            <a:off x="731520" y="4663440"/>
            <a:ext cx="10728655" cy="1645920"/>
          </a:xfrm>
          <a:prstGeom prst="roundRect">
            <a:avLst/>
          </a:prstGeom>
          <a:solidFill>
            <a:srgbClr val="161B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defRPr sz="1200" b="1">
                <a:solidFill>
                  <a:srgbClr val="38BDF8"/>
                </a:solidFill>
              </a:defRPr>
            </a:pPr>
            <a:r>
              <a:t>MEASURED TEST CASE: VINTAGE PORTRAIT</a:t>
            </a:r>
          </a:p>
          <a:p>
            <a:pPr>
              <a:spcBef>
                <a:spcPts val="300"/>
              </a:spcBef>
              <a:defRPr sz="1000">
                <a:solidFill>
                  <a:srgbClr val="F0F6FC"/>
                </a:solidFill>
              </a:defRPr>
            </a:pPr>
            <a:r>
              <a:t>• Input Image: Degraded vintage portrait (447×447 px, noise σ=7.60, scratches detected)</a:t>
            </a:r>
            <a:br/>
            <a:r>
              <a:t>• Mode: Generative AI Clarity (Real-ESRGAN / HYPIR)</a:t>
            </a:r>
            <a:br/>
            <a:r>
              <a:t>• Operations: Preprocessing → Detail synthesis → Real-ESRGAN 2× → CLAHE → Perceptual vibrance → Adaptive clarity</a:t>
            </a:r>
            <a:br/>
            <a:r>
              <a:t>• Restored Resolution: 894×894 px (2× Super-Sampled) / 1788×1788 px (4× HD)</a:t>
            </a:r>
            <a:br/>
            <a:r>
              <a:t>• Measured Processing Time: 1.45 seconds</a:t>
            </a:r>
            <a:br/>
            <a:r>
              <a:t>• Measured Edge Sharpness (Laplacian Variance): Increased from 2076 to 3583.36 with zero face melting!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Innovation, Impact, Deliverables &amp; Future Scope</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9 of 10</a:t>
            </a:r>
          </a:p>
        </p:txBody>
      </p:sp>
      <p:sp>
        <p:nvSpPr>
          <p:cNvPr id="5" name="Rounded Rectangle 4"/>
          <p:cNvSpPr/>
          <p:nvPr/>
        </p:nvSpPr>
        <p:spPr>
          <a:xfrm>
            <a:off x="731520" y="1463040"/>
            <a:ext cx="5212080" cy="228600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2DD4BF"/>
                </a:solidFill>
              </a:defRPr>
            </a:pPr>
            <a:r>
              <a:t>INNOVATION</a:t>
            </a:r>
          </a:p>
          <a:p>
            <a:pPr>
              <a:spcBef>
                <a:spcPts val="400"/>
              </a:spcBef>
              <a:defRPr sz="1000">
                <a:solidFill>
                  <a:srgbClr val="F0F6FC"/>
                </a:solidFill>
              </a:defRPr>
            </a:pPr>
            <a:r>
              <a:t>• Two-Model Design: Real-ESRGAN and HYPIR backends behind a unified interface</a:t>
            </a:r>
            <a:br/>
            <a:r>
              <a:t>• Non-Destructive Guardrails: Scratch mask capped at 3% to protect facial contours</a:t>
            </a:r>
            <a:br/>
            <a:r>
              <a:t>• Tiled Sliding-Window Inference: Eliminates GPU/RAM out-of-memory bottlenecks</a:t>
            </a:r>
            <a:br/>
            <a:r>
              <a:t>• Perceptual Vibrance: HSV saturation boost preserving human skin tones</a:t>
            </a:r>
          </a:p>
        </p:txBody>
      </p:sp>
      <p:sp>
        <p:nvSpPr>
          <p:cNvPr id="6" name="Rounded Rectangle 5"/>
          <p:cNvSpPr/>
          <p:nvPr/>
        </p:nvSpPr>
        <p:spPr>
          <a:xfrm>
            <a:off x="6217920" y="1463040"/>
            <a:ext cx="5212080" cy="2286000"/>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F97316"/>
                </a:solidFill>
              </a:defRPr>
            </a:pPr>
            <a:r>
              <a:t>IMPACT</a:t>
            </a:r>
          </a:p>
          <a:p>
            <a:pPr>
              <a:spcBef>
                <a:spcPts val="400"/>
              </a:spcBef>
              <a:defRPr sz="1000">
                <a:solidFill>
                  <a:srgbClr val="F0F6FC"/>
                </a:solidFill>
              </a:defRPr>
            </a:pPr>
            <a:r>
              <a:t>• Makes deep-learning image restoration accessible on consumer hardware</a:t>
            </a:r>
            <a:br/>
            <a:r>
              <a:t>• Reconstructs damaged historical family and archival photographs with high visual fidelity</a:t>
            </a:r>
            <a:br/>
            <a:r>
              <a:t>• Eliminates costly cloud GPU requirements for everyday restoration tasks</a:t>
            </a:r>
          </a:p>
        </p:txBody>
      </p:sp>
      <p:sp>
        <p:nvSpPr>
          <p:cNvPr id="7" name="Rounded Rectangle 6"/>
          <p:cNvSpPr/>
          <p:nvPr/>
        </p:nvSpPr>
        <p:spPr>
          <a:xfrm>
            <a:off x="731520" y="4023360"/>
            <a:ext cx="5212080" cy="2286000"/>
          </a:xfrm>
          <a:prstGeom prst="roundRect">
            <a:avLst/>
          </a:prstGeom>
          <a:solidFill>
            <a:srgbClr val="161B22"/>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38BDF8"/>
                </a:solidFill>
              </a:defRPr>
            </a:pPr>
            <a:r>
              <a:t>DELIVERABLES</a:t>
            </a:r>
          </a:p>
          <a:p>
            <a:pPr>
              <a:spcBef>
                <a:spcPts val="400"/>
              </a:spcBef>
              <a:defRPr sz="1000">
                <a:solidFill>
                  <a:srgbClr val="F0F6FC"/>
                </a:solidFill>
              </a:defRPr>
            </a:pPr>
            <a:r>
              <a:t>• Full-stack web application (Flask + HTML/CSS/JS with comparison slider)</a:t>
            </a:r>
            <a:br/>
            <a:r>
              <a:t>• FastAPI backend (main.py, hypir_service.py) with automated test suite</a:t>
            </a:r>
            <a:br/>
            <a:r>
              <a:t>• Executable Jupyter Notebook (Restore_AI_HYPIR.ipynb) with Colab GPU pipeline</a:t>
            </a:r>
            <a:br/>
            <a:r>
              <a:t>• Verified model weights (Real-ESRGAN, FSRCNN, ESPCN) + MySQL schema</a:t>
            </a:r>
          </a:p>
        </p:txBody>
      </p:sp>
      <p:sp>
        <p:nvSpPr>
          <p:cNvPr id="8" name="Rounded Rectangle 7"/>
          <p:cNvSpPr/>
          <p:nvPr/>
        </p:nvSpPr>
        <p:spPr>
          <a:xfrm>
            <a:off x="6217920" y="4023360"/>
            <a:ext cx="5212080" cy="228600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defRPr sz="1200" b="1">
                <a:solidFill>
                  <a:srgbClr val="2DD4BF"/>
                </a:solidFill>
              </a:defRPr>
            </a:pPr>
            <a:r>
              <a:t>FUTURE SCOPE</a:t>
            </a:r>
          </a:p>
          <a:p>
            <a:pPr>
              <a:spcBef>
                <a:spcPts val="400"/>
              </a:spcBef>
              <a:defRPr sz="1000">
                <a:solidFill>
                  <a:srgbClr val="F0F6FC"/>
                </a:solidFill>
              </a:defRPr>
            </a:pPr>
            <a:r>
              <a:t>• Integrate facial prior networks (GFPGAN / CodeFormer) for severely damaged portraits</a:t>
            </a:r>
            <a:br/>
            <a:r>
              <a:t>• Deploy on-device WebGPU inference directly in the browser</a:t>
            </a:r>
            <a:br/>
            <a:r>
              <a:t>• Support batch folder processing and asynchronous job queues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F97316"/>
                </a:solidFill>
              </a:defRPr>
            </a:pPr>
            <a:r>
              <a:t>RAMDEOBABA UNIVERSITY · B.TECH CSE (AI &amp; DATA SCIENCE) · IDEA LAB</a:t>
            </a:r>
          </a:p>
          <a:p>
            <a:pPr>
              <a:spcBef>
                <a:spcPts val="300"/>
              </a:spcBef>
              <a:defRPr sz="2000" b="1">
                <a:solidFill>
                  <a:srgbClr val="F0F6FC"/>
                </a:solidFill>
              </a:defRPr>
            </a:pPr>
            <a:r>
              <a:t>Conclusion &amp; References</a:t>
            </a:r>
          </a:p>
        </p:txBody>
      </p:sp>
      <p:sp>
        <p:nvSpPr>
          <p:cNvPr id="4" name="TextBox 3"/>
          <p:cNvSpPr txBox="1"/>
          <p:nvPr/>
        </p:nvSpPr>
        <p:spPr>
          <a:xfrm>
            <a:off x="9601200" y="365760"/>
            <a:ext cx="1828800" cy="457200"/>
          </a:xfrm>
          <a:prstGeom prst="rect">
            <a:avLst/>
          </a:prstGeom>
          <a:noFill/>
        </p:spPr>
        <p:txBody>
          <a:bodyPr wrap="none">
            <a:spAutoFit/>
          </a:bodyPr>
          <a:lstStyle/>
          <a:p>
            <a:pPr algn="r">
              <a:defRPr sz="1100" b="1">
                <a:solidFill>
                  <a:srgbClr val="8B949E"/>
                </a:solidFill>
              </a:defRPr>
            </a:pPr>
            <a:r>
              <a:t>Slide 10 of 10</a:t>
            </a:r>
          </a:p>
        </p:txBody>
      </p:sp>
      <p:sp>
        <p:nvSpPr>
          <p:cNvPr id="5" name="Rounded Rectangle 4"/>
          <p:cNvSpPr/>
          <p:nvPr/>
        </p:nvSpPr>
        <p:spPr>
          <a:xfrm>
            <a:off x="731520" y="1371600"/>
            <a:ext cx="10728655" cy="2011680"/>
          </a:xfrm>
          <a:prstGeom prst="roundRect">
            <a:avLst/>
          </a:prstGeom>
          <a:solidFill>
            <a:srgbClr val="161B22"/>
          </a:solidFill>
          <a:ln w="1524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2DD4BF"/>
                </a:solidFill>
              </a:defRPr>
            </a:pPr>
            <a:r>
              <a:t>CONCLUSION</a:t>
            </a:r>
          </a:p>
          <a:p>
            <a:pPr>
              <a:spcBef>
                <a:spcPts val="500"/>
              </a:spcBef>
              <a:defRPr sz="1100">
                <a:solidFill>
                  <a:srgbClr val="F0F6FC"/>
                </a:solidFill>
              </a:defRPr>
            </a:pPr>
            <a:r>
              <a:t>RestoreAI successfully demonstrates a modular, production-ready dual-model restoration platform. By pairing Real-ESRGAN's rapid edge generative inference with HYPIR's diffusion-score-prior framework, the system resolves real-world degradations (noise, blur, low resolution, scratches) within seconds. With strict geometric inpainting guardrails, tiled inference, and objective metric reporting, RestoreAI balances visual quality, processing speed, and practical deployability on standard consumer hardware.</a:t>
            </a:r>
          </a:p>
        </p:txBody>
      </p:sp>
      <p:sp>
        <p:nvSpPr>
          <p:cNvPr id="6" name="Rounded Rectangle 5"/>
          <p:cNvSpPr/>
          <p:nvPr/>
        </p:nvSpPr>
        <p:spPr>
          <a:xfrm>
            <a:off x="731520" y="3566160"/>
            <a:ext cx="10728655" cy="2834640"/>
          </a:xfrm>
          <a:prstGeom prst="roundRect">
            <a:avLst/>
          </a:prstGeom>
          <a:solidFill>
            <a:srgbClr val="161B22"/>
          </a:solidFill>
          <a:ln w="1524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rIns="201168" bIns="201168"/>
          <a:lstStyle/>
          <a:p>
            <a:pPr algn="ctr">
              <a:defRPr sz="1300" b="1">
                <a:solidFill>
                  <a:srgbClr val="F97316"/>
                </a:solidFill>
              </a:defRPr>
            </a:pPr>
            <a:r>
              <a:t>REFERENCES</a:t>
            </a:r>
          </a:p>
          <a:p>
            <a:pPr>
              <a:spcBef>
                <a:spcPts val="400"/>
              </a:spcBef>
              <a:defRPr sz="1000">
                <a:solidFill>
                  <a:srgbClr val="F0F6FC"/>
                </a:solidFill>
              </a:defRPr>
            </a:pPr>
            <a:r>
              <a:t>1. Lin, X. et al. 'HYPIR: Harnessing Diffusion-Yielded Score Priors for Image Restoration.' ACM Transactions on Graphics (SIGGRAPH), 2025. https://github.com/XPixelGroup/HYPIR</a:t>
            </a:r>
          </a:p>
          <a:p>
            <a:pPr>
              <a:spcBef>
                <a:spcPts val="400"/>
              </a:spcBef>
              <a:defRPr sz="1000">
                <a:solidFill>
                  <a:srgbClr val="F0F6FC"/>
                </a:solidFill>
              </a:defRPr>
            </a:pPr>
            <a:r>
              <a:t>2. Wang, X. et al. 'Real-ESRGAN: Training Real-World Blind Super-Resolution with Pure Synthetic Data.' IEEE/CVF ICCV Workshops, 2021. https://github.com/xinntao/Real-ESRGAN</a:t>
            </a:r>
          </a:p>
          <a:p>
            <a:pPr>
              <a:spcBef>
                <a:spcPts val="400"/>
              </a:spcBef>
              <a:defRPr sz="1000">
                <a:solidFill>
                  <a:srgbClr val="F0F6FC"/>
                </a:solidFill>
              </a:defRPr>
            </a:pPr>
            <a:r>
              <a:t>3. Dong, C., Loy, C. C., &amp; Tang, X. 'Accelerating the Super-Resolution Convolutional Neural Network (FSRCNN).' European Conference on Computer Vision (ECCV), 2016.</a:t>
            </a:r>
          </a:p>
          <a:p>
            <a:pPr>
              <a:spcBef>
                <a:spcPts val="400"/>
              </a:spcBef>
              <a:defRPr sz="1000">
                <a:solidFill>
                  <a:srgbClr val="F0F6FC"/>
                </a:solidFill>
              </a:defRPr>
            </a:pPr>
            <a:r>
              <a:t>4. Zhang, K. et al. 'Beyond a Gaussian Denoiser: Residual Learning of Deep CNN for Image Denoising (DnCNN).' IEEE Transactions on Image Processing, 2017.</a:t>
            </a:r>
          </a:p>
          <a:p>
            <a:pPr>
              <a:spcBef>
                <a:spcPts val="400"/>
              </a:spcBef>
              <a:defRPr sz="1000">
                <a:solidFill>
                  <a:srgbClr val="F0F6FC"/>
                </a:solidFill>
              </a:defRPr>
            </a:pPr>
            <a:r>
              <a:t>5. Telea, A. 'An Image Inpainting Technique Based on the Fast Marching Method.' Journal of Graphics Tools, 2004.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